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ooper Hewitt Bold" charset="1" panose="00000000000000000000"/>
      <p:regular r:id="rId14"/>
    </p:embeddedFont>
    <p:embeddedFont>
      <p:font typeface="Cooper Hewitt" charset="1" panose="00000000000000000000"/>
      <p:regular r:id="rId15"/>
    </p:embeddedFont>
    <p:embeddedFont>
      <p:font typeface="DM Sans" charset="1" panose="00000000000000000000"/>
      <p:regular r:id="rId16"/>
    </p:embeddedFont>
    <p:embeddedFont>
      <p:font typeface="DM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9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18332" y="2731879"/>
            <a:ext cx="3701593" cy="4723610"/>
          </a:xfrm>
          <a:custGeom>
            <a:avLst/>
            <a:gdLst/>
            <a:ahLst/>
            <a:cxnLst/>
            <a:rect r="r" b="b" t="t" l="l"/>
            <a:pathLst>
              <a:path h="4723610" w="3701593">
                <a:moveTo>
                  <a:pt x="0" y="0"/>
                </a:moveTo>
                <a:lnTo>
                  <a:pt x="3701593" y="0"/>
                </a:lnTo>
                <a:lnTo>
                  <a:pt x="3701593" y="4723610"/>
                </a:lnTo>
                <a:lnTo>
                  <a:pt x="0" y="4723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56031" y="5686468"/>
            <a:ext cx="3718302" cy="2393234"/>
          </a:xfrm>
          <a:custGeom>
            <a:avLst/>
            <a:gdLst/>
            <a:ahLst/>
            <a:cxnLst/>
            <a:rect r="r" b="b" t="t" l="l"/>
            <a:pathLst>
              <a:path h="2393234" w="3718302">
                <a:moveTo>
                  <a:pt x="0" y="0"/>
                </a:moveTo>
                <a:lnTo>
                  <a:pt x="3718301" y="0"/>
                </a:lnTo>
                <a:lnTo>
                  <a:pt x="3718301" y="2393234"/>
                </a:lnTo>
                <a:lnTo>
                  <a:pt x="0" y="2393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77104" y="3974852"/>
            <a:ext cx="2882196" cy="3943304"/>
          </a:xfrm>
          <a:custGeom>
            <a:avLst/>
            <a:gdLst/>
            <a:ahLst/>
            <a:cxnLst/>
            <a:rect r="r" b="b" t="t" l="l"/>
            <a:pathLst>
              <a:path h="3943304" w="2882196">
                <a:moveTo>
                  <a:pt x="0" y="0"/>
                </a:moveTo>
                <a:lnTo>
                  <a:pt x="2882196" y="0"/>
                </a:lnTo>
                <a:lnTo>
                  <a:pt x="2882196" y="3943304"/>
                </a:lnTo>
                <a:lnTo>
                  <a:pt x="0" y="39433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88689"/>
            <a:ext cx="1276918" cy="1276918"/>
          </a:xfrm>
          <a:custGeom>
            <a:avLst/>
            <a:gdLst/>
            <a:ahLst/>
            <a:cxnLst/>
            <a:rect r="r" b="b" t="t" l="l"/>
            <a:pathLst>
              <a:path h="1276918" w="1276918">
                <a:moveTo>
                  <a:pt x="0" y="0"/>
                </a:moveTo>
                <a:lnTo>
                  <a:pt x="1276918" y="0"/>
                </a:lnTo>
                <a:lnTo>
                  <a:pt x="1276918" y="1276919"/>
                </a:lnTo>
                <a:lnTo>
                  <a:pt x="0" y="1276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013229"/>
            <a:ext cx="9904619" cy="2392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8"/>
              </a:lnSpc>
            </a:pPr>
            <a:r>
              <a:rPr lang="en-US" sz="12013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BIG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598384"/>
            <a:ext cx="8626948" cy="208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9"/>
              </a:lnSpc>
            </a:pPr>
            <a:r>
              <a:rPr lang="en-US" sz="10463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TECHNOLOGY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5075" y="6673696"/>
            <a:ext cx="7793067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Alisha, Alana, Evelyn Yasmim, Gabriel Rian, Guilherme, Luan e Livia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174819"/>
            <a:ext cx="7793067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2CC - Uninassau Paulista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01339" y="1333143"/>
            <a:ext cx="11603607" cy="8204570"/>
          </a:xfrm>
          <a:custGeom>
            <a:avLst/>
            <a:gdLst/>
            <a:ahLst/>
            <a:cxnLst/>
            <a:rect r="r" b="b" t="t" l="l"/>
            <a:pathLst>
              <a:path h="8204570" w="11603607">
                <a:moveTo>
                  <a:pt x="0" y="0"/>
                </a:moveTo>
                <a:lnTo>
                  <a:pt x="11603606" y="0"/>
                </a:lnTo>
                <a:lnTo>
                  <a:pt x="11603606" y="8204570"/>
                </a:lnTo>
                <a:lnTo>
                  <a:pt x="0" y="820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591934" y="2770506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DEFINIÇÃO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18844" y="694684"/>
            <a:ext cx="1276918" cy="1276918"/>
          </a:xfrm>
          <a:custGeom>
            <a:avLst/>
            <a:gdLst/>
            <a:ahLst/>
            <a:cxnLst/>
            <a:rect r="r" b="b" t="t" l="l"/>
            <a:pathLst>
              <a:path h="1276918" w="1276918">
                <a:moveTo>
                  <a:pt x="0" y="0"/>
                </a:moveTo>
                <a:lnTo>
                  <a:pt x="1276919" y="0"/>
                </a:lnTo>
                <a:lnTo>
                  <a:pt x="1276919" y="1276918"/>
                </a:lnTo>
                <a:lnTo>
                  <a:pt x="0" y="12769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4475480"/>
            <a:ext cx="8664572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BIG DATA É O CONJUNTO DE GRANDES VOLUMES DE DADOS, PRODUZIDOS EM ALTA VELOCIDADE E EM DIFERENTES FORMATOS, QUE PRECISAM DE TECNOLOGIAS ESPECÍFICAS PARA SEREM ARMAZENADOS, PROCESSADOS E ANALISADOS.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7136130"/>
            <a:ext cx="8664572" cy="255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EM PALAVRAS SIMPLES: BIG DATA É TRABALHAR COM UMA QUANTIDADE ENORME DE INFORMAÇÕES PARA ENCONTRAR PADRÕES, TENDÊNCIAS E CONHECIMENTOS QUE POSSAM AJUDAR NA TOMADA DE DECISÕES.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09909" y="4321622"/>
            <a:ext cx="889362" cy="887460"/>
          </a:xfrm>
          <a:custGeom>
            <a:avLst/>
            <a:gdLst/>
            <a:ahLst/>
            <a:cxnLst/>
            <a:rect r="r" b="b" t="t" l="l"/>
            <a:pathLst>
              <a:path h="887460" w="889362">
                <a:moveTo>
                  <a:pt x="0" y="0"/>
                </a:moveTo>
                <a:lnTo>
                  <a:pt x="889362" y="0"/>
                </a:lnTo>
                <a:lnTo>
                  <a:pt x="889362" y="887460"/>
                </a:lnTo>
                <a:lnTo>
                  <a:pt x="0" y="887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338446">
            <a:off x="3717599" y="4135362"/>
            <a:ext cx="1276076" cy="1357527"/>
          </a:xfrm>
          <a:custGeom>
            <a:avLst/>
            <a:gdLst/>
            <a:ahLst/>
            <a:cxnLst/>
            <a:rect r="r" b="b" t="t" l="l"/>
            <a:pathLst>
              <a:path h="1357527" w="1276076">
                <a:moveTo>
                  <a:pt x="0" y="0"/>
                </a:moveTo>
                <a:lnTo>
                  <a:pt x="1276076" y="0"/>
                </a:lnTo>
                <a:lnTo>
                  <a:pt x="1276076" y="1357527"/>
                </a:lnTo>
                <a:lnTo>
                  <a:pt x="0" y="13575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665225" y="4335351"/>
            <a:ext cx="957550" cy="957550"/>
          </a:xfrm>
          <a:custGeom>
            <a:avLst/>
            <a:gdLst/>
            <a:ahLst/>
            <a:cxnLst/>
            <a:rect r="r" b="b" t="t" l="l"/>
            <a:pathLst>
              <a:path h="957550" w="957550">
                <a:moveTo>
                  <a:pt x="0" y="0"/>
                </a:moveTo>
                <a:lnTo>
                  <a:pt x="957550" y="0"/>
                </a:lnTo>
                <a:lnTo>
                  <a:pt x="957550" y="957549"/>
                </a:lnTo>
                <a:lnTo>
                  <a:pt x="0" y="9575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18844" y="694684"/>
            <a:ext cx="1276918" cy="1276918"/>
          </a:xfrm>
          <a:custGeom>
            <a:avLst/>
            <a:gdLst/>
            <a:ahLst/>
            <a:cxnLst/>
            <a:rect r="r" b="b" t="t" l="l"/>
            <a:pathLst>
              <a:path h="1276918" w="1276918">
                <a:moveTo>
                  <a:pt x="0" y="0"/>
                </a:moveTo>
                <a:lnTo>
                  <a:pt x="1276919" y="0"/>
                </a:lnTo>
                <a:lnTo>
                  <a:pt x="1276919" y="1276918"/>
                </a:lnTo>
                <a:lnTo>
                  <a:pt x="0" y="12769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69983" y="1800553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VANTAGEM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42616" y="5928307"/>
            <a:ext cx="4054734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ajuda em conhecer o cliente melhor e entender suas necessidades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87959" y="1800553"/>
            <a:ext cx="5216414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BIG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6121" y="5373749"/>
            <a:ext cx="234378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PERSONALIZAÇÃO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16633" y="5906717"/>
            <a:ext cx="4054734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Identifica gargalos, falhas em processos e desperdícios em tempo real, otimizando a cadeia de suprimentos e reduzindo custos.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21699" y="5373749"/>
            <a:ext cx="324460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DIMINUIÇÃO DE  CUSTOS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42621" y="5906717"/>
            <a:ext cx="4054734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 Big Data acelera a tomada de decisões corporativas ao eliminar a dependência de processos manuais e intuição.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42621" y="5373749"/>
            <a:ext cx="408724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TOMADA DE DECISÕES RAPIDAS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6839">
            <a:off x="-5205082" y="-5552844"/>
            <a:ext cx="24254056" cy="24254056"/>
          </a:xfrm>
          <a:custGeom>
            <a:avLst/>
            <a:gdLst/>
            <a:ahLst/>
            <a:cxnLst/>
            <a:rect r="r" b="b" t="t" l="l"/>
            <a:pathLst>
              <a:path h="24254056" w="24254056">
                <a:moveTo>
                  <a:pt x="0" y="0"/>
                </a:moveTo>
                <a:lnTo>
                  <a:pt x="24254056" y="0"/>
                </a:lnTo>
                <a:lnTo>
                  <a:pt x="24254056" y="24254057"/>
                </a:lnTo>
                <a:lnTo>
                  <a:pt x="0" y="24254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07807" y="3499174"/>
            <a:ext cx="936193" cy="887460"/>
          </a:xfrm>
          <a:custGeom>
            <a:avLst/>
            <a:gdLst/>
            <a:ahLst/>
            <a:cxnLst/>
            <a:rect r="r" b="b" t="t" l="l"/>
            <a:pathLst>
              <a:path h="887460" w="936193">
                <a:moveTo>
                  <a:pt x="0" y="0"/>
                </a:moveTo>
                <a:lnTo>
                  <a:pt x="936193" y="0"/>
                </a:lnTo>
                <a:lnTo>
                  <a:pt x="936193" y="887460"/>
                </a:lnTo>
                <a:lnTo>
                  <a:pt x="0" y="887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87859" y="3462640"/>
            <a:ext cx="695271" cy="887460"/>
          </a:xfrm>
          <a:custGeom>
            <a:avLst/>
            <a:gdLst/>
            <a:ahLst/>
            <a:cxnLst/>
            <a:rect r="r" b="b" t="t" l="l"/>
            <a:pathLst>
              <a:path h="887460" w="695271">
                <a:moveTo>
                  <a:pt x="0" y="0"/>
                </a:moveTo>
                <a:lnTo>
                  <a:pt x="695271" y="0"/>
                </a:lnTo>
                <a:lnTo>
                  <a:pt x="695271" y="887460"/>
                </a:lnTo>
                <a:lnTo>
                  <a:pt x="0" y="8874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27610" y="3462640"/>
            <a:ext cx="889362" cy="887460"/>
          </a:xfrm>
          <a:custGeom>
            <a:avLst/>
            <a:gdLst/>
            <a:ahLst/>
            <a:cxnLst/>
            <a:rect r="r" b="b" t="t" l="l"/>
            <a:pathLst>
              <a:path h="887460" w="889362">
                <a:moveTo>
                  <a:pt x="0" y="0"/>
                </a:moveTo>
                <a:lnTo>
                  <a:pt x="889362" y="0"/>
                </a:lnTo>
                <a:lnTo>
                  <a:pt x="889362" y="887460"/>
                </a:lnTo>
                <a:lnTo>
                  <a:pt x="0" y="8874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83130" y="1805291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DESVANTAGEM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95763" y="4772287"/>
            <a:ext cx="3865205" cy="4017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7"/>
              </a:lnSpc>
            </a:pPr>
            <a:r>
              <a:rPr lang="en-US" sz="194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* </a:t>
            </a:r>
            <a:r>
              <a:rPr lang="en-US" b="true" sz="1948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Privacidade: </a:t>
            </a:r>
            <a:r>
              <a:rPr lang="en-US" sz="194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privacidade pode ser um problema porque o Big Data utiliza muitas informações pessoais, e esses dados precisam ser protegidos e usados corretamente.</a:t>
            </a:r>
          </a:p>
          <a:p>
            <a:pPr algn="just">
              <a:lnSpc>
                <a:spcPts val="2440"/>
              </a:lnSpc>
            </a:pPr>
          </a:p>
          <a:p>
            <a:pPr algn="just">
              <a:lnSpc>
                <a:spcPts val="2440"/>
              </a:lnSpc>
            </a:pPr>
          </a:p>
          <a:p>
            <a:pPr algn="just">
              <a:lnSpc>
                <a:spcPts val="2727"/>
              </a:lnSpc>
            </a:pPr>
            <a:r>
              <a:rPr lang="en-US" b="true" sz="1948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* Vazamento de dados:</a:t>
            </a:r>
            <a:r>
              <a:rPr lang="en-US" sz="194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Se os dados não forem bem protegidos, eles podem ser roubados ou vazados.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67446" y="1805291"/>
            <a:ext cx="5216414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BIG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32135" y="4823218"/>
            <a:ext cx="3687537" cy="364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9"/>
              </a:lnSpc>
            </a:pPr>
            <a:r>
              <a:rPr lang="en-US" sz="2106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*</a:t>
            </a:r>
            <a:r>
              <a:rPr lang="en-US" sz="2106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 Alto custo</a:t>
            </a:r>
            <a:r>
              <a:rPr lang="en-US" sz="2106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 Guardar e organizar uma grande quantidade de dados pode ser caro.</a:t>
            </a:r>
          </a:p>
          <a:p>
            <a:pPr algn="just">
              <a:lnSpc>
                <a:spcPts val="2638"/>
              </a:lnSpc>
            </a:pPr>
          </a:p>
          <a:p>
            <a:pPr algn="just">
              <a:lnSpc>
                <a:spcPts val="2949"/>
              </a:lnSpc>
            </a:pPr>
          </a:p>
          <a:p>
            <a:pPr algn="just">
              <a:lnSpc>
                <a:spcPts val="2949"/>
              </a:lnSpc>
            </a:pPr>
            <a:r>
              <a:rPr lang="en-US" sz="2106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* Difícil de organizar:</a:t>
            </a:r>
            <a:r>
              <a:rPr lang="en-US" sz="2106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É preciso tecnologia e profissionais preparados para lidar com tantos dados.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38996" y="4839136"/>
            <a:ext cx="4666589" cy="3950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1"/>
              </a:lnSpc>
            </a:pPr>
            <a:r>
              <a:rPr lang="en-US" sz="1922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* </a:t>
            </a:r>
            <a:r>
              <a:rPr lang="en-US" sz="1922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Informações erradas</a:t>
            </a:r>
            <a:r>
              <a:rPr lang="en-US" sz="1922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: Se os dados estiverem errados ou desatualizados, as análises também podem ficar erradas. e a correção pode ser difícil, sim, principalmente quando existem muitos dados.</a:t>
            </a:r>
          </a:p>
          <a:p>
            <a:pPr algn="just">
              <a:lnSpc>
                <a:spcPts val="2408"/>
              </a:lnSpc>
            </a:pPr>
          </a:p>
          <a:p>
            <a:pPr algn="just">
              <a:lnSpc>
                <a:spcPts val="2408"/>
              </a:lnSpc>
            </a:pPr>
          </a:p>
          <a:p>
            <a:pPr algn="just">
              <a:lnSpc>
                <a:spcPts val="2691"/>
              </a:lnSpc>
            </a:pPr>
            <a:r>
              <a:rPr lang="en-US" sz="1922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* </a:t>
            </a:r>
            <a:r>
              <a:rPr lang="en-US" sz="1922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Preconceito nos dados:</a:t>
            </a:r>
            <a:r>
              <a:rPr lang="en-US" sz="1922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Dados com informações injustas ou preconceituosas podem fazer com que os sistemas tomem decisões erradas.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18844" y="694684"/>
            <a:ext cx="1276918" cy="1276918"/>
          </a:xfrm>
          <a:custGeom>
            <a:avLst/>
            <a:gdLst/>
            <a:ahLst/>
            <a:cxnLst/>
            <a:rect r="r" b="b" t="t" l="l"/>
            <a:pathLst>
              <a:path h="1276918" w="1276918">
                <a:moveTo>
                  <a:pt x="0" y="0"/>
                </a:moveTo>
                <a:lnTo>
                  <a:pt x="1276919" y="0"/>
                </a:lnTo>
                <a:lnTo>
                  <a:pt x="1276919" y="1276918"/>
                </a:lnTo>
                <a:lnTo>
                  <a:pt x="0" y="12769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854" y="3277429"/>
            <a:ext cx="6266948" cy="3519277"/>
          </a:xfrm>
          <a:custGeom>
            <a:avLst/>
            <a:gdLst/>
            <a:ahLst/>
            <a:cxnLst/>
            <a:rect r="r" b="b" t="t" l="l"/>
            <a:pathLst>
              <a:path h="3519277" w="6266948">
                <a:moveTo>
                  <a:pt x="0" y="0"/>
                </a:moveTo>
                <a:lnTo>
                  <a:pt x="6266948" y="0"/>
                </a:lnTo>
                <a:lnTo>
                  <a:pt x="6266948" y="3519277"/>
                </a:lnTo>
                <a:lnTo>
                  <a:pt x="0" y="35192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18844" y="694684"/>
            <a:ext cx="1276918" cy="1276918"/>
          </a:xfrm>
          <a:custGeom>
            <a:avLst/>
            <a:gdLst/>
            <a:ahLst/>
            <a:cxnLst/>
            <a:rect r="r" b="b" t="t" l="l"/>
            <a:pathLst>
              <a:path h="1276918" w="1276918">
                <a:moveTo>
                  <a:pt x="0" y="0"/>
                </a:moveTo>
                <a:lnTo>
                  <a:pt x="1276919" y="0"/>
                </a:lnTo>
                <a:lnTo>
                  <a:pt x="1276919" y="1276918"/>
                </a:lnTo>
                <a:lnTo>
                  <a:pt x="0" y="12769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893338" y="3425390"/>
            <a:ext cx="5561706" cy="3145052"/>
            <a:chOff x="0" y="0"/>
            <a:chExt cx="1464812" cy="8283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4812" cy="828326"/>
            </a:xfrm>
            <a:custGeom>
              <a:avLst/>
              <a:gdLst/>
              <a:ahLst/>
              <a:cxnLst/>
              <a:rect r="r" b="b" t="t" l="l"/>
              <a:pathLst>
                <a:path h="828326" w="1464812">
                  <a:moveTo>
                    <a:pt x="23664" y="0"/>
                  </a:moveTo>
                  <a:lnTo>
                    <a:pt x="1441147" y="0"/>
                  </a:lnTo>
                  <a:cubicBezTo>
                    <a:pt x="1447424" y="0"/>
                    <a:pt x="1453443" y="2493"/>
                    <a:pt x="1457880" y="6931"/>
                  </a:cubicBezTo>
                  <a:cubicBezTo>
                    <a:pt x="1462318" y="11369"/>
                    <a:pt x="1464812" y="17388"/>
                    <a:pt x="1464812" y="23664"/>
                  </a:cubicBezTo>
                  <a:lnTo>
                    <a:pt x="1464812" y="804662"/>
                  </a:lnTo>
                  <a:cubicBezTo>
                    <a:pt x="1464812" y="810938"/>
                    <a:pt x="1462318" y="816958"/>
                    <a:pt x="1457880" y="821395"/>
                  </a:cubicBezTo>
                  <a:cubicBezTo>
                    <a:pt x="1453443" y="825833"/>
                    <a:pt x="1447424" y="828326"/>
                    <a:pt x="1441147" y="828326"/>
                  </a:cubicBezTo>
                  <a:lnTo>
                    <a:pt x="23664" y="828326"/>
                  </a:lnTo>
                  <a:cubicBezTo>
                    <a:pt x="17388" y="828326"/>
                    <a:pt x="11369" y="825833"/>
                    <a:pt x="6931" y="821395"/>
                  </a:cubicBezTo>
                  <a:cubicBezTo>
                    <a:pt x="2493" y="816958"/>
                    <a:pt x="0" y="810938"/>
                    <a:pt x="0" y="804662"/>
                  </a:cubicBezTo>
                  <a:lnTo>
                    <a:pt x="0" y="23664"/>
                  </a:lnTo>
                  <a:cubicBezTo>
                    <a:pt x="0" y="17388"/>
                    <a:pt x="2493" y="11369"/>
                    <a:pt x="6931" y="6931"/>
                  </a:cubicBezTo>
                  <a:cubicBezTo>
                    <a:pt x="11369" y="2493"/>
                    <a:pt x="17388" y="0"/>
                    <a:pt x="236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464812" cy="875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362922" y="3685244"/>
            <a:ext cx="2622537" cy="2703647"/>
          </a:xfrm>
          <a:custGeom>
            <a:avLst/>
            <a:gdLst/>
            <a:ahLst/>
            <a:cxnLst/>
            <a:rect r="r" b="b" t="t" l="l"/>
            <a:pathLst>
              <a:path h="2703647" w="2622537">
                <a:moveTo>
                  <a:pt x="0" y="0"/>
                </a:moveTo>
                <a:lnTo>
                  <a:pt x="2622537" y="0"/>
                </a:lnTo>
                <a:lnTo>
                  <a:pt x="2622537" y="2703647"/>
                </a:lnTo>
                <a:lnTo>
                  <a:pt x="0" y="2703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97475" y="7129780"/>
            <a:ext cx="5561706" cy="146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Netflix utiliza Big Data para analisar grandes quantidades de dados sobre o comportamento dos usuários, como conteúdos assistidos e buscas realizadas. A partir desses dados, consegue identificar padrões e oferecer recomendações personalizadas.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60350" y="6598269"/>
            <a:ext cx="42359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NETFLIX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500208" y="1982030"/>
            <a:ext cx="9287583" cy="914399"/>
            <a:chOff x="0" y="0"/>
            <a:chExt cx="12383444" cy="121919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295275"/>
              <a:ext cx="9430185" cy="15144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00"/>
                </a:lnSpc>
              </a:pPr>
              <a:r>
                <a:rPr lang="en-US" sz="6000" b="true">
                  <a:solidFill>
                    <a:srgbClr val="343434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EXEMPLOS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443833" y="-295275"/>
              <a:ext cx="6939611" cy="15144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400"/>
                </a:lnSpc>
              </a:pPr>
              <a:r>
                <a:rPr lang="en-US" sz="6000">
                  <a:solidFill>
                    <a:srgbClr val="343434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BIG DATA          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893338" y="7129780"/>
            <a:ext cx="5561706" cy="264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Amazon utiliza Big Data para analisar o comportamento de seus clientes, como os produtos pesquisados, comprados e avaliados. Com essas informações, a empresa consegue oferecer recomendações personalizadas, prever quais produtos terão maior procura e melhorar sua logística de entrega. Dessa forma, o uso de Big Data ajuda a Amazon a entender melhor seus consumidores e a tomar decisões mais eficientes.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56213" y="6598269"/>
            <a:ext cx="42359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AMAZON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8844" y="694684"/>
            <a:ext cx="1276918" cy="1276918"/>
          </a:xfrm>
          <a:custGeom>
            <a:avLst/>
            <a:gdLst/>
            <a:ahLst/>
            <a:cxnLst/>
            <a:rect r="r" b="b" t="t" l="l"/>
            <a:pathLst>
              <a:path h="1276918" w="1276918">
                <a:moveTo>
                  <a:pt x="0" y="0"/>
                </a:moveTo>
                <a:lnTo>
                  <a:pt x="1276919" y="0"/>
                </a:lnTo>
                <a:lnTo>
                  <a:pt x="1276919" y="1276918"/>
                </a:lnTo>
                <a:lnTo>
                  <a:pt x="0" y="1276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97264" y="2898218"/>
            <a:ext cx="893473" cy="893473"/>
          </a:xfrm>
          <a:custGeom>
            <a:avLst/>
            <a:gdLst/>
            <a:ahLst/>
            <a:cxnLst/>
            <a:rect r="r" b="b" t="t" l="l"/>
            <a:pathLst>
              <a:path h="893473" w="893473">
                <a:moveTo>
                  <a:pt x="0" y="0"/>
                </a:moveTo>
                <a:lnTo>
                  <a:pt x="893472" y="0"/>
                </a:lnTo>
                <a:lnTo>
                  <a:pt x="893472" y="893472"/>
                </a:lnTo>
                <a:lnTo>
                  <a:pt x="0" y="8934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69983" y="1800553"/>
            <a:ext cx="7796041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ARTIGOS CIÊNTIFICOS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89835" y="5802341"/>
            <a:ext cx="5513813" cy="264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Mostra números do crescimento absurdo de dados no mundo: entre 2015 e 2020 os dados gerados foram de cerca de 20 zettabytes para 40, e a previsão é que entre 2020 e 2025 isso suba para 175 zettabytes — um crescimento bem maior que o da década passada. A conexão com big data é a base do artigo: ele mostra como esse volume gigante de dados se conecta com IA e computação em nuvem para formar o que chama de "sistema tecnológico digital".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90736" y="2714952"/>
            <a:ext cx="3147377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00"/>
              </a:lnSpc>
            </a:pPr>
            <a:r>
              <a:rPr lang="en-US" sz="6000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BIG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9835" y="4053214"/>
            <a:ext cx="5513813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. O SISTEMA TECNOLÓGICO DIGITAL: INTELIGÊNCIA ARTIFICIAL, COMPUTAÇÃO EM NUVEM E BIG DATA (ARTIGO BRASILEIRO, REVISTA BRASILEIRA DE INOVAÇÃO)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29906" y="5802341"/>
            <a:ext cx="5520001" cy="264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Esse artigo questiona uma coisa interessante: será que "big data" é só sobre ter muitos dados? O texto reflete sobre como a ciência de dados pode mudar os estudos populacionais e de saúde, e discute que big data não se refere unicamente a bases de dados grandes — existe mais nuance na definição do que parece. A conexão é conceitual: ele ajuda a entender melhor o que realmente define "big data" além do tamanho.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29906" y="4071966"/>
            <a:ext cx="552000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CIÊNCIA DE DADOS E BIG DATA: O QUE ISSO SIGNIFICA PARA ESTUDOS POPULACIONAIS E DA SAÚDE?(SALDANHA, BARCELLOS, PEDROSO, 2021, CAD. SAÚDE COLET.)</a:t>
            </a:r>
          </a:p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22334" y="2121652"/>
            <a:ext cx="6034097" cy="6718124"/>
          </a:xfrm>
          <a:custGeom>
            <a:avLst/>
            <a:gdLst/>
            <a:ahLst/>
            <a:cxnLst/>
            <a:rect r="r" b="b" t="t" l="l"/>
            <a:pathLst>
              <a:path h="6718124" w="6034097">
                <a:moveTo>
                  <a:pt x="0" y="0"/>
                </a:moveTo>
                <a:lnTo>
                  <a:pt x="6034097" y="0"/>
                </a:lnTo>
                <a:lnTo>
                  <a:pt x="6034097" y="6718124"/>
                </a:lnTo>
                <a:lnTo>
                  <a:pt x="0" y="6718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92353" y="1694614"/>
            <a:ext cx="4179099" cy="6080700"/>
          </a:xfrm>
          <a:custGeom>
            <a:avLst/>
            <a:gdLst/>
            <a:ahLst/>
            <a:cxnLst/>
            <a:rect r="r" b="b" t="t" l="l"/>
            <a:pathLst>
              <a:path h="6080700" w="4179099">
                <a:moveTo>
                  <a:pt x="0" y="0"/>
                </a:moveTo>
                <a:lnTo>
                  <a:pt x="4179100" y="0"/>
                </a:lnTo>
                <a:lnTo>
                  <a:pt x="4179100" y="6080700"/>
                </a:lnTo>
                <a:lnTo>
                  <a:pt x="0" y="6080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403571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RESUMINDO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32704"/>
            <a:ext cx="6543798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 um jeito geral, os artigos científicos sobre big data costumam girar em torno de alguns temas centrais.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14925"/>
            <a:ext cx="6543798" cy="234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Big data é discutido nos artigos através de três eixos principais:</a:t>
            </a:r>
          </a:p>
          <a:p>
            <a:pPr algn="just" marL="367031" indent="-183515" lvl="1">
              <a:lnSpc>
                <a:spcPts val="2380"/>
              </a:lnSpc>
              <a:buAutoNum type="arabicPeriod" startAt="1"/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Definição – não é só "muitos dados", mas os "5 Vs" (Volume, Velocidade, Variedade, Veracidade, Valor).</a:t>
            </a:r>
          </a:p>
          <a:p>
            <a:pPr algn="just" marL="367031" indent="-183515" lvl="1">
              <a:lnSpc>
                <a:spcPts val="2380"/>
              </a:lnSpc>
              <a:buAutoNum type="arabicPeriod" startAt="1"/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Aplicações – uso em saúde, educação, negócios, indústria, agricultura, com apoio de tecnologias como IA, nuvem e IoT.</a:t>
            </a:r>
          </a:p>
          <a:p>
            <a:pPr algn="just" marL="367031" indent="-183515" lvl="1">
              <a:lnSpc>
                <a:spcPts val="2380"/>
              </a:lnSpc>
              <a:buAutoNum type="arabicPeriod" startAt="1"/>
            </a:pPr>
            <a:r>
              <a:rPr lang="en-US" sz="17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Riscos e ética – privacidade, confiabilidade dos dados e impacto na forma de fazer ciência.</a:t>
            </a:r>
          </a:p>
          <a:p>
            <a:pPr algn="just">
              <a:lnSpc>
                <a:spcPts val="238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18844" y="694684"/>
            <a:ext cx="1276918" cy="1276918"/>
          </a:xfrm>
          <a:custGeom>
            <a:avLst/>
            <a:gdLst/>
            <a:ahLst/>
            <a:cxnLst/>
            <a:rect r="r" b="b" t="t" l="l"/>
            <a:pathLst>
              <a:path h="1276918" w="1276918">
                <a:moveTo>
                  <a:pt x="0" y="0"/>
                </a:moveTo>
                <a:lnTo>
                  <a:pt x="1276919" y="0"/>
                </a:lnTo>
                <a:lnTo>
                  <a:pt x="1276919" y="1276918"/>
                </a:lnTo>
                <a:lnTo>
                  <a:pt x="0" y="12769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4451" y="-37997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3983" y="3152569"/>
            <a:ext cx="16420035" cy="387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b="true" sz="19362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OBRIGADO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354446">
            <a:off x="15843106" y="2606653"/>
            <a:ext cx="1497033" cy="2339114"/>
          </a:xfrm>
          <a:custGeom>
            <a:avLst/>
            <a:gdLst/>
            <a:ahLst/>
            <a:cxnLst/>
            <a:rect r="r" b="b" t="t" l="l"/>
            <a:pathLst>
              <a:path h="2339114" w="1497033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885027">
            <a:off x="5092713" y="2195823"/>
            <a:ext cx="2206219" cy="1740908"/>
          </a:xfrm>
          <a:custGeom>
            <a:avLst/>
            <a:gdLst/>
            <a:ahLst/>
            <a:cxnLst/>
            <a:rect r="r" b="b" t="t" l="l"/>
            <a:pathLst>
              <a:path h="1740908" w="2206219">
                <a:moveTo>
                  <a:pt x="0" y="0"/>
                </a:moveTo>
                <a:lnTo>
                  <a:pt x="2206220" y="0"/>
                </a:lnTo>
                <a:lnTo>
                  <a:pt x="2206220" y="1740908"/>
                </a:lnTo>
                <a:lnTo>
                  <a:pt x="0" y="1740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1839" y="8205407"/>
            <a:ext cx="4202073" cy="2521244"/>
          </a:xfrm>
          <a:custGeom>
            <a:avLst/>
            <a:gdLst/>
            <a:ahLst/>
            <a:cxnLst/>
            <a:rect r="r" b="b" t="t" l="l"/>
            <a:pathLst>
              <a:path h="2521244" w="4202073">
                <a:moveTo>
                  <a:pt x="0" y="0"/>
                </a:moveTo>
                <a:lnTo>
                  <a:pt x="4202074" y="0"/>
                </a:lnTo>
                <a:lnTo>
                  <a:pt x="4202074" y="2521245"/>
                </a:lnTo>
                <a:lnTo>
                  <a:pt x="0" y="25212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839221">
            <a:off x="9785300" y="7617346"/>
            <a:ext cx="1170380" cy="2030628"/>
          </a:xfrm>
          <a:custGeom>
            <a:avLst/>
            <a:gdLst/>
            <a:ahLst/>
            <a:cxnLst/>
            <a:rect r="r" b="b" t="t" l="l"/>
            <a:pathLst>
              <a:path h="2030628" w="1170380">
                <a:moveTo>
                  <a:pt x="0" y="0"/>
                </a:moveTo>
                <a:lnTo>
                  <a:pt x="1170381" y="0"/>
                </a:lnTo>
                <a:lnTo>
                  <a:pt x="1170381" y="2030628"/>
                </a:lnTo>
                <a:lnTo>
                  <a:pt x="0" y="2030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6690030" y="6429743"/>
            <a:ext cx="4493704" cy="645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391"/>
              </a:lnSpc>
              <a:spcBef>
                <a:spcPct val="0"/>
              </a:spcBef>
            </a:pPr>
            <a:r>
              <a:rPr lang="en-US" sz="3851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PELA ATENÇÃO  ;)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18844" y="694684"/>
            <a:ext cx="1276918" cy="1276918"/>
          </a:xfrm>
          <a:custGeom>
            <a:avLst/>
            <a:gdLst/>
            <a:ahLst/>
            <a:cxnLst/>
            <a:rect r="r" b="b" t="t" l="l"/>
            <a:pathLst>
              <a:path h="1276918" w="1276918">
                <a:moveTo>
                  <a:pt x="0" y="0"/>
                </a:moveTo>
                <a:lnTo>
                  <a:pt x="1276919" y="0"/>
                </a:lnTo>
                <a:lnTo>
                  <a:pt x="1276919" y="1276918"/>
                </a:lnTo>
                <a:lnTo>
                  <a:pt x="0" y="127691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DAHT-a7ry4Y</dc:identifier>
  <dcterms:modified xsi:type="dcterms:W3CDTF">2011-08-01T06:04:30Z</dcterms:modified>
  <cp:revision>1</cp:revision>
  <dc:title>Pink and Purple Illustrative Computer Technology Presentation</dc:title>
</cp:coreProperties>
</file>